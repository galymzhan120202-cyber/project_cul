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93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088636"/>
            <a:ext cx="8979408" cy="54864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274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Diwan Lughat al-Turk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Mahmud al-Kashgari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Scholar, Lexicographer &amp; Literary Pioneer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Diwan Lughat al-Turk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Compendium of the Languages of the Turks (1072-1074 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Mahmud al-Kashgari?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549140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697480" cy="73152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960120"/>
            <a:ext cx="566928" cy="56692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60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&amp; Life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c. 1029 in Kashgar (Central Asia), son of the emir of Barsgan on Lake Issyk-Kul. Member of the Kara-Khanid ruling dynasty. Became a political refugee ~1057 CE and eventually settled in Baghdad.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77240"/>
            <a:ext cx="2697480" cy="73152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960120"/>
            <a:ext cx="566928" cy="56692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960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Scholarly 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1031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~15 years traveling across Turkic territories collecting linguistic data directly from native speakers - an early form of fieldwork. His goal: demonstrate the richness and antiquity of Turkic languages.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77724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777240"/>
            <a:ext cx="2697480" cy="73152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960120"/>
            <a:ext cx="566928" cy="56692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960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 Recognition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1031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declared 2008 the Year of Mahmud al-Kashgari. In 2013, the Diwan was inscribed in UNESCO Memory of the World Register. A 2024 Paris conference marked its 950th anniversary.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Diwan Lughat al-Turk: Structure &amp; Content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49040" cy="4114800"/>
          </a:xfrm>
          <a:prstGeom prst="rect">
            <a:avLst/>
          </a:prstGeom>
          <a:solidFill>
            <a:srgbClr val="1E4A5C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325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1072-1074 CE, Baghdad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737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148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~7,500 Turkic entries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560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 pages, 3 volumes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971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Caliph Abu'l-Qasim, 1077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383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known map of Turkic world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37947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Memory of the World, 2013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777240"/>
            <a:ext cx="4572000" cy="4114800"/>
          </a:xfrm>
          <a:prstGeom prst="rect">
            <a:avLst/>
          </a:prstGeom>
          <a:solidFill>
            <a:srgbClr val="1E4A5C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868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Diwan Contains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1353312"/>
            <a:ext cx="658368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35331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1353312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passages: epic, lyric, didactic, elegiac poetry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2011680"/>
            <a:ext cx="658368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01168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0368" y="2011680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Proverbs and sayings of the Turkic peoples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670048"/>
            <a:ext cx="658368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6700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267004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Turkic dialects: Khaqani, Oghuz, Karluk, Kipchak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3328416"/>
            <a:ext cx="658368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32841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3328416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Ethnographic, geographical and folkloric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3986784"/>
            <a:ext cx="658368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39867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0368" y="398678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grammatical analysis of Turkic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Literary Significance of the Diwan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9B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73152"/>
          </a:xfrm>
          <a:prstGeom prst="rect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Poetry Genres Preserved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164592" cy="164592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80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(heroic narratives of Turkic warriors)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164592" cy="164592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293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(nomadic life and nature)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78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Didactic (moral teachings and wisdom)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64592" cy="164592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0266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 (love and longing)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164592" cy="164592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753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Elegiac (lamentation and grief)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9B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777240"/>
            <a:ext cx="4114800" cy="73152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Literarily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426464"/>
            <a:ext cx="164592" cy="164592"/>
          </a:xfrm>
          <a:prstGeom prst="ellipse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13807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surviving anthology of Turkic oral poetry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975104"/>
            <a:ext cx="164592" cy="164592"/>
          </a:xfrm>
          <a:prstGeom prst="ellipse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19293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folk songs, riddles and ritual couplets lost elsewhere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523744"/>
            <a:ext cx="164592" cy="164592"/>
          </a:xfrm>
          <a:prstGeom prst="ellipse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24780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quatrain (rubai) form, linking Turkic and Persian literary traditions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072384"/>
            <a:ext cx="164592" cy="164592"/>
          </a:xfrm>
          <a:prstGeom prst="ellipse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302666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humanistic ideals of the Karakhanid Renaissance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621024"/>
            <a:ext cx="164592" cy="164592"/>
          </a:xfrm>
          <a:prstGeom prst="ellipse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57530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text for the field of Turkology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Kashgari's Linguistic &amp; Cultural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057400" cy="4114800"/>
          </a:xfrm>
          <a:prstGeom prst="rect">
            <a:avLst/>
          </a:prstGeom>
          <a:solidFill>
            <a:srgbClr val="1E4A5C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77240"/>
            <a:ext cx="2057400" cy="6400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914400"/>
            <a:ext cx="658368" cy="65836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2331720"/>
            <a:ext cx="1874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Kashgari pioneered linguistic fieldwork, documenting dialects directly from native speakers across the Turkic world over ~15 years of travel — unprecedented in medieval scholarship.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14016" y="777240"/>
            <a:ext cx="2057400" cy="4114800"/>
          </a:xfrm>
          <a:prstGeom prst="rect">
            <a:avLst/>
          </a:prstGeom>
          <a:solidFill>
            <a:srgbClr val="1E4A5C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14016" y="777240"/>
            <a:ext cx="2057400" cy="6400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8104" y="914400"/>
            <a:ext cx="658368" cy="65836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7168" y="16642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Encyclopedia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05456" y="2331720"/>
            <a:ext cx="1874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vocabulary, the Diwan captured Turkic history, geography, astronomy, medicine, and philosophy — a one-of-a-kind medieval encyclopedia of an entire civilization.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2057400" cy="4114800"/>
          </a:xfrm>
          <a:prstGeom prst="rect">
            <a:avLst/>
          </a:prstGeom>
          <a:solidFill>
            <a:srgbClr val="1E4A5C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777240"/>
            <a:ext cx="2057400" cy="6400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0952" y="914400"/>
            <a:ext cx="658368" cy="65836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0016" y="16642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331720"/>
            <a:ext cx="1874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Kashgari advocated for linguistic purity and celebrated nomadic Turkic culture at a time when Arabic and Persian dominated scholarly and literary life in Central Asia.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39712" y="777240"/>
            <a:ext cx="2057400" cy="4114800"/>
          </a:xfrm>
          <a:prstGeom prst="rect">
            <a:avLst/>
          </a:prstGeom>
          <a:solidFill>
            <a:srgbClr val="1E4A5C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9712" y="777240"/>
            <a:ext cx="2057400" cy="6400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914400"/>
            <a:ext cx="658368" cy="658368"/>
          </a:xfrm>
          <a:prstGeom prst="ellipse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12864" y="16642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Cartography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1152" y="2331720"/>
            <a:ext cx="1874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east-oriented circular world map — the first known map of Turkic territories — placed Kashgar at the center, spanning Japan to Egypt. It is now housed in Istanbul.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371600"/>
          </a:xfrm>
          <a:prstGeom prst="rect">
            <a:avLst/>
          </a:prstGeom>
          <a:solidFill>
            <a:srgbClr val="1A3A4A"/>
          </a:solidFill>
          <a:ln w="25400">
            <a:solidFill>
              <a:srgbClr val="C99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9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most elegant of the dialects belongs to those who know only one language, who do not mix with Persians and who do not customarily settle in other lands."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Mahmud al-Kashgari, Diwan Lughat al-Turk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347472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8119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Mahmud al-Kashgari (c. 1029-1102) was the first systematic scholar of Turkic languages and literature.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347472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97180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971800"/>
            <a:ext cx="8119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Diwan Lughat al-Turk (1072-74) is an unparalleled literary, linguistic, and ethnographic monument of the medieval world.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347472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1188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611880"/>
            <a:ext cx="8119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preserved 240+ literary passages across all major poetry genres, along with 290+ proverbs of the Turkic peoples.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51960"/>
            <a:ext cx="347472" cy="384048"/>
          </a:xfrm>
          <a:prstGeom prst="rect">
            <a:avLst/>
          </a:prstGeom>
          <a:solidFill>
            <a:srgbClr val="C9943C"/>
          </a:solidFill>
          <a:ln w="12700">
            <a:solidFill>
              <a:srgbClr val="C994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25196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251960"/>
            <a:ext cx="8119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Diwan remains the foundation of Turkology and a recognized UNESCO Memory of the World heritage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D6A7F"/>
          </a:solidFill>
          <a:ln w="12700">
            <a:solidFill>
              <a:srgbClr val="2D6A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(APA Style)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Dankoff, R. (1982-1985). Compendium of the Turkic dialects (Diwan Lughat at-Turk) [Ed. &amp; trans.]. Sources of Oriental Languages and Literatures, 7. Duxbury, MA.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Qardash, B. A., &amp; Bashqaban, H. (2023). Analysis of compound nouns containing the word Alp in Mahmud Kashgari's Diwan Lughat al-Turk. Sprin Journal of Arts, Humanities and Social Sciences, 2(12), 17-23. https://doi.org/10.55559/sjahss.v2i12.196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212140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Sattorova, Z. (2020). Song genre in Devoni Lugati-t-Turk. International Journal of Word Art, 3(3), 4-14. https://doi.org/10.26739/2181-9297-2020-3-1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2825496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Syzdyk, S. K., &amp; Makulova, U. (2022). Geographical environment of the Turks based on Mahmud al-Kashkari. 9th International Symposium on the Research of the Turkic World, Turkey, pp. 227-236.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3529584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Kumekov, B. E., et al. (2021). The Diwan Lughat at-Turk by Mahmud al-Kashghari (XI c.) as a source on the steppe civilization [Research project AP09260007]. L. N. Gumilyov Eurasian National University, Astana.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42336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F7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Aliev, A. (2015). Mahmud Kashgari is an encyclopedic scientist of the Renaissance period in the Karakhanid state. Bulletin of KRSU, 15(10), 12-15.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Экран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Ersaiyn Tayteliev</cp:lastModifiedBy>
  <cp:revision>2</cp:revision>
  <dcterms:created xsi:type="dcterms:W3CDTF">2026-03-29T01:25:42Z</dcterms:created>
  <dcterms:modified xsi:type="dcterms:W3CDTF">2026-03-29T01:28:37Z</dcterms:modified>
</cp:coreProperties>
</file>